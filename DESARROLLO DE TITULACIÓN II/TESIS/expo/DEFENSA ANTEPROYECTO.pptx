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2"/>
    <p:sldId id="257" r:id="rId3"/>
    <p:sldId id="262" r:id="rId4"/>
    <p:sldId id="261" r:id="rId5"/>
    <p:sldId id="275" r:id="rId6"/>
    <p:sldId id="277" r:id="rId7"/>
    <p:sldId id="270" r:id="rId8"/>
    <p:sldId id="273" r:id="rId9"/>
    <p:sldId id="274" r:id="rId10"/>
    <p:sldId id="272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691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0059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525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24419" y="3680459"/>
            <a:ext cx="4765040" cy="3177540"/>
          </a:xfrm>
          <a:custGeom>
            <a:avLst/>
            <a:gdLst/>
            <a:ahLst/>
            <a:cxnLst/>
            <a:rect l="l" t="t" r="r" b="b"/>
            <a:pathLst>
              <a:path w="4765040" h="3177540">
                <a:moveTo>
                  <a:pt x="4764785" y="0"/>
                </a:moveTo>
                <a:lnTo>
                  <a:pt x="0" y="3177222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099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7359" y="0"/>
                </a:moveTo>
                <a:lnTo>
                  <a:pt x="2043049" y="0"/>
                </a:lnTo>
                <a:lnTo>
                  <a:pt x="0" y="6857998"/>
                </a:lnTo>
                <a:lnTo>
                  <a:pt x="3007359" y="6857998"/>
                </a:lnTo>
                <a:lnTo>
                  <a:pt x="3007359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3739" y="0"/>
            <a:ext cx="2588260" cy="6858000"/>
          </a:xfrm>
          <a:custGeom>
            <a:avLst/>
            <a:gdLst/>
            <a:ahLst/>
            <a:cxnLst/>
            <a:rect l="l" t="t" r="r" b="b"/>
            <a:pathLst>
              <a:path w="2588259" h="6858000">
                <a:moveTo>
                  <a:pt x="2587752" y="0"/>
                </a:moveTo>
                <a:lnTo>
                  <a:pt x="0" y="0"/>
                </a:lnTo>
                <a:lnTo>
                  <a:pt x="1208277" y="6857998"/>
                </a:lnTo>
                <a:lnTo>
                  <a:pt x="2587752" y="6857998"/>
                </a:lnTo>
                <a:lnTo>
                  <a:pt x="2587752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3179" y="3048000"/>
            <a:ext cx="3258820" cy="3810000"/>
          </a:xfrm>
          <a:custGeom>
            <a:avLst/>
            <a:gdLst/>
            <a:ahLst/>
            <a:cxnLst/>
            <a:rect l="l" t="t" r="r" b="b"/>
            <a:pathLst>
              <a:path w="3258820" h="3810000">
                <a:moveTo>
                  <a:pt x="3258439" y="0"/>
                </a:moveTo>
                <a:lnTo>
                  <a:pt x="0" y="3809998"/>
                </a:lnTo>
                <a:lnTo>
                  <a:pt x="3258439" y="3809998"/>
                </a:lnTo>
                <a:lnTo>
                  <a:pt x="3258439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039" y="0"/>
            <a:ext cx="2852420" cy="6858000"/>
          </a:xfrm>
          <a:custGeom>
            <a:avLst/>
            <a:gdLst/>
            <a:ahLst/>
            <a:cxnLst/>
            <a:rect l="l" t="t" r="r" b="b"/>
            <a:pathLst>
              <a:path w="2852420" h="6858000">
                <a:moveTo>
                  <a:pt x="2851911" y="0"/>
                </a:moveTo>
                <a:lnTo>
                  <a:pt x="0" y="0"/>
                </a:lnTo>
                <a:lnTo>
                  <a:pt x="2468244" y="6857998"/>
                </a:lnTo>
                <a:lnTo>
                  <a:pt x="2851911" y="6857998"/>
                </a:lnTo>
                <a:lnTo>
                  <a:pt x="2851911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9139" y="0"/>
            <a:ext cx="1290320" cy="6858000"/>
          </a:xfrm>
          <a:custGeom>
            <a:avLst/>
            <a:gdLst/>
            <a:ahLst/>
            <a:cxnLst/>
            <a:rect l="l" t="t" r="r" b="b"/>
            <a:pathLst>
              <a:path w="1290320" h="6858000">
                <a:moveTo>
                  <a:pt x="1290065" y="0"/>
                </a:moveTo>
                <a:lnTo>
                  <a:pt x="1018539" y="0"/>
                </a:lnTo>
                <a:lnTo>
                  <a:pt x="0" y="6857998"/>
                </a:lnTo>
                <a:lnTo>
                  <a:pt x="1290065" y="6857998"/>
                </a:lnTo>
                <a:lnTo>
                  <a:pt x="1290065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39779" y="0"/>
            <a:ext cx="1249045" cy="6858000"/>
          </a:xfrm>
          <a:custGeom>
            <a:avLst/>
            <a:gdLst/>
            <a:ahLst/>
            <a:cxnLst/>
            <a:rect l="l" t="t" r="r" b="b"/>
            <a:pathLst>
              <a:path w="1249045" h="6858000">
                <a:moveTo>
                  <a:pt x="1249045" y="0"/>
                </a:moveTo>
                <a:lnTo>
                  <a:pt x="0" y="0"/>
                </a:lnTo>
                <a:lnTo>
                  <a:pt x="1108583" y="6857998"/>
                </a:lnTo>
                <a:lnTo>
                  <a:pt x="1249045" y="6857998"/>
                </a:lnTo>
                <a:lnTo>
                  <a:pt x="1249045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0819" y="3589020"/>
            <a:ext cx="1818639" cy="3268979"/>
          </a:xfrm>
          <a:custGeom>
            <a:avLst/>
            <a:gdLst/>
            <a:ahLst/>
            <a:cxnLst/>
            <a:rect l="l" t="t" r="r" b="b"/>
            <a:pathLst>
              <a:path w="1818640" h="3268979">
                <a:moveTo>
                  <a:pt x="1818385" y="0"/>
                </a:moveTo>
                <a:lnTo>
                  <a:pt x="0" y="3268766"/>
                </a:lnTo>
                <a:lnTo>
                  <a:pt x="1818385" y="3268766"/>
                </a:lnTo>
                <a:lnTo>
                  <a:pt x="1818385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3200"/>
            <a:ext cx="449580" cy="2844800"/>
          </a:xfrm>
          <a:custGeom>
            <a:avLst/>
            <a:gdLst/>
            <a:ahLst/>
            <a:cxnLst/>
            <a:rect l="l" t="t" r="r" b="b"/>
            <a:pathLst>
              <a:path w="449580" h="2844800">
                <a:moveTo>
                  <a:pt x="0" y="0"/>
                </a:moveTo>
                <a:lnTo>
                  <a:pt x="0" y="2844798"/>
                </a:lnTo>
                <a:lnTo>
                  <a:pt x="449364" y="2844798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927100" y="1069339"/>
            <a:ext cx="8338820" cy="0"/>
          </a:xfrm>
          <a:custGeom>
            <a:avLst/>
            <a:gdLst/>
            <a:ahLst/>
            <a:cxnLst/>
            <a:rect l="l" t="t" r="r" b="b"/>
            <a:pathLst>
              <a:path w="8338820">
                <a:moveTo>
                  <a:pt x="0" y="0"/>
                </a:moveTo>
                <a:lnTo>
                  <a:pt x="8338566" y="0"/>
                </a:lnTo>
              </a:path>
            </a:pathLst>
          </a:custGeom>
          <a:ln w="19050">
            <a:solidFill>
              <a:srgbClr val="90C2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bg 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77780" y="220979"/>
            <a:ext cx="1849120" cy="2184400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1519" y="1828800"/>
            <a:ext cx="2098040" cy="12192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1_Blank">
    <p:bg>
      <p:bgPr>
        <a:solidFill>
          <a:srgbClr val="FFFFFF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9350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0059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525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24419" y="3680459"/>
            <a:ext cx="4765040" cy="3177540"/>
          </a:xfrm>
          <a:custGeom>
            <a:avLst/>
            <a:gdLst/>
            <a:ahLst/>
            <a:cxnLst/>
            <a:rect l="l" t="t" r="r" b="b"/>
            <a:pathLst>
              <a:path w="4765040" h="3177540">
                <a:moveTo>
                  <a:pt x="4764785" y="0"/>
                </a:moveTo>
                <a:lnTo>
                  <a:pt x="0" y="3177222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099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7359" y="0"/>
                </a:moveTo>
                <a:lnTo>
                  <a:pt x="2043049" y="0"/>
                </a:lnTo>
                <a:lnTo>
                  <a:pt x="0" y="6857998"/>
                </a:lnTo>
                <a:lnTo>
                  <a:pt x="3007359" y="6857998"/>
                </a:lnTo>
                <a:lnTo>
                  <a:pt x="3007359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3739" y="0"/>
            <a:ext cx="2588260" cy="6858000"/>
          </a:xfrm>
          <a:custGeom>
            <a:avLst/>
            <a:gdLst/>
            <a:ahLst/>
            <a:cxnLst/>
            <a:rect l="l" t="t" r="r" b="b"/>
            <a:pathLst>
              <a:path w="2588259" h="6858000">
                <a:moveTo>
                  <a:pt x="2587752" y="0"/>
                </a:moveTo>
                <a:lnTo>
                  <a:pt x="0" y="0"/>
                </a:lnTo>
                <a:lnTo>
                  <a:pt x="1208277" y="6857998"/>
                </a:lnTo>
                <a:lnTo>
                  <a:pt x="2587752" y="6857998"/>
                </a:lnTo>
                <a:lnTo>
                  <a:pt x="2587752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3179" y="3048000"/>
            <a:ext cx="3258820" cy="3810000"/>
          </a:xfrm>
          <a:custGeom>
            <a:avLst/>
            <a:gdLst/>
            <a:ahLst/>
            <a:cxnLst/>
            <a:rect l="l" t="t" r="r" b="b"/>
            <a:pathLst>
              <a:path w="3258820" h="3810000">
                <a:moveTo>
                  <a:pt x="3258439" y="0"/>
                </a:moveTo>
                <a:lnTo>
                  <a:pt x="0" y="3809998"/>
                </a:lnTo>
                <a:lnTo>
                  <a:pt x="3258439" y="3809998"/>
                </a:lnTo>
                <a:lnTo>
                  <a:pt x="3258439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039" y="0"/>
            <a:ext cx="2852420" cy="6858000"/>
          </a:xfrm>
          <a:custGeom>
            <a:avLst/>
            <a:gdLst/>
            <a:ahLst/>
            <a:cxnLst/>
            <a:rect l="l" t="t" r="r" b="b"/>
            <a:pathLst>
              <a:path w="2852420" h="6858000">
                <a:moveTo>
                  <a:pt x="2851911" y="0"/>
                </a:moveTo>
                <a:lnTo>
                  <a:pt x="0" y="0"/>
                </a:lnTo>
                <a:lnTo>
                  <a:pt x="2468244" y="6857998"/>
                </a:lnTo>
                <a:lnTo>
                  <a:pt x="2851911" y="6857998"/>
                </a:lnTo>
                <a:lnTo>
                  <a:pt x="2851911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9139" y="0"/>
            <a:ext cx="1290320" cy="6858000"/>
          </a:xfrm>
          <a:custGeom>
            <a:avLst/>
            <a:gdLst/>
            <a:ahLst/>
            <a:cxnLst/>
            <a:rect l="l" t="t" r="r" b="b"/>
            <a:pathLst>
              <a:path w="1290320" h="6858000">
                <a:moveTo>
                  <a:pt x="1290065" y="0"/>
                </a:moveTo>
                <a:lnTo>
                  <a:pt x="1018539" y="0"/>
                </a:lnTo>
                <a:lnTo>
                  <a:pt x="0" y="6857998"/>
                </a:lnTo>
                <a:lnTo>
                  <a:pt x="1290065" y="6857998"/>
                </a:lnTo>
                <a:lnTo>
                  <a:pt x="1290065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39779" y="0"/>
            <a:ext cx="1249045" cy="6858000"/>
          </a:xfrm>
          <a:custGeom>
            <a:avLst/>
            <a:gdLst/>
            <a:ahLst/>
            <a:cxnLst/>
            <a:rect l="l" t="t" r="r" b="b"/>
            <a:pathLst>
              <a:path w="1249045" h="6858000">
                <a:moveTo>
                  <a:pt x="1249045" y="0"/>
                </a:moveTo>
                <a:lnTo>
                  <a:pt x="0" y="0"/>
                </a:lnTo>
                <a:lnTo>
                  <a:pt x="1108583" y="6857998"/>
                </a:lnTo>
                <a:lnTo>
                  <a:pt x="1249045" y="6857998"/>
                </a:lnTo>
                <a:lnTo>
                  <a:pt x="1249045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0819" y="3589020"/>
            <a:ext cx="1818639" cy="3268979"/>
          </a:xfrm>
          <a:custGeom>
            <a:avLst/>
            <a:gdLst/>
            <a:ahLst/>
            <a:cxnLst/>
            <a:rect l="l" t="t" r="r" b="b"/>
            <a:pathLst>
              <a:path w="1818640" h="3268979">
                <a:moveTo>
                  <a:pt x="1818385" y="0"/>
                </a:moveTo>
                <a:lnTo>
                  <a:pt x="0" y="3268766"/>
                </a:lnTo>
                <a:lnTo>
                  <a:pt x="1818385" y="3268766"/>
                </a:lnTo>
                <a:lnTo>
                  <a:pt x="1818385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3200"/>
            <a:ext cx="449580" cy="2844800"/>
          </a:xfrm>
          <a:custGeom>
            <a:avLst/>
            <a:gdLst/>
            <a:ahLst/>
            <a:cxnLst/>
            <a:rect l="l" t="t" r="r" b="b"/>
            <a:pathLst>
              <a:path w="449580" h="2844800">
                <a:moveTo>
                  <a:pt x="0" y="0"/>
                </a:moveTo>
                <a:lnTo>
                  <a:pt x="0" y="2844798"/>
                </a:lnTo>
                <a:lnTo>
                  <a:pt x="449364" y="2844798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927100" y="1026160"/>
            <a:ext cx="8338820" cy="0"/>
          </a:xfrm>
          <a:custGeom>
            <a:avLst/>
            <a:gdLst/>
            <a:ahLst/>
            <a:cxnLst/>
            <a:rect l="l" t="t" r="r" b="b"/>
            <a:pathLst>
              <a:path w="8338820">
                <a:moveTo>
                  <a:pt x="0" y="0"/>
                </a:moveTo>
                <a:lnTo>
                  <a:pt x="8338566" y="0"/>
                </a:lnTo>
              </a:path>
            </a:pathLst>
          </a:custGeom>
          <a:ln w="19050">
            <a:solidFill>
              <a:srgbClr val="90C2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bg 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177780" y="220979"/>
            <a:ext cx="1849120" cy="21844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59660" y="438784"/>
            <a:ext cx="5471795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6300" y="1380997"/>
            <a:ext cx="8575675" cy="47821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svgsilh.com/009688/image/297078.html" TargetMode="External"/><Relationship Id="rId3" Type="http://schemas.openxmlformats.org/officeDocument/2006/relationships/image" Target="../media/image15.png"/><Relationship Id="rId7" Type="http://schemas.openxmlformats.org/officeDocument/2006/relationships/image" Target="../media/image18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hyperlink" Target="https://pixabay.com/en/bad-hand-down-red-thumb-157437/" TargetMode="Externa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"/>
            <a:ext cx="12193693" cy="6857577"/>
            <a:chOff x="0" y="1270"/>
            <a:chExt cx="18290540" cy="102863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70"/>
              <a:ext cx="18290358" cy="1028635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9718" y="828059"/>
              <a:ext cx="15144749" cy="8629649"/>
            </a:xfrm>
            <a:prstGeom prst="rect">
              <a:avLst/>
            </a:prstGeom>
          </p:spPr>
        </p:pic>
      </p:grpSp>
      <p:sp>
        <p:nvSpPr>
          <p:cNvPr id="11" name="Google Shape;418;p38">
            <a:extLst>
              <a:ext uri="{FF2B5EF4-FFF2-40B4-BE49-F238E27FC236}">
                <a16:creationId xmlns:a16="http://schemas.microsoft.com/office/drawing/2014/main" id="{E63A593F-50F9-4FA9-D876-E83D1270DF68}"/>
              </a:ext>
            </a:extLst>
          </p:cNvPr>
          <p:cNvSpPr txBox="1">
            <a:spLocks/>
          </p:cNvSpPr>
          <p:nvPr/>
        </p:nvSpPr>
        <p:spPr>
          <a:xfrm>
            <a:off x="-1115236" y="-838142"/>
            <a:ext cx="13307236" cy="20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cert One"/>
              <a:buNone/>
              <a:defRPr sz="3100" b="0" i="0" u="none" strike="noStrike" cap="none">
                <a:solidFill>
                  <a:schemeClr val="tx1"/>
                </a:solidFill>
                <a:latin typeface="Arial Black"/>
                <a:ea typeface="Concert One"/>
                <a:cs typeface="Arial Black"/>
                <a:sym typeface="Concert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s-EC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UNIVERSIDAD TÉCNICA ESTATAL DE QUEVEDO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B4DB8E5-C1F9-576E-F49B-3B5A102659AC}"/>
              </a:ext>
            </a:extLst>
          </p:cNvPr>
          <p:cNvSpPr txBox="1"/>
          <p:nvPr/>
        </p:nvSpPr>
        <p:spPr>
          <a:xfrm>
            <a:off x="4200344" y="1835922"/>
            <a:ext cx="35894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INGENIERÍA TELEMÁTICA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B107A7D-3103-27FE-1115-923A25BA883B}"/>
              </a:ext>
            </a:extLst>
          </p:cNvPr>
          <p:cNvSpPr txBox="1"/>
          <p:nvPr/>
        </p:nvSpPr>
        <p:spPr>
          <a:xfrm>
            <a:off x="2770741" y="1108898"/>
            <a:ext cx="6647974" cy="7487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2133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FACULTAD DE CIENCIAS DE LA COMPUTACIÓN</a:t>
            </a:r>
          </a:p>
          <a:p>
            <a:pPr algn="ctr"/>
            <a:r>
              <a:rPr lang="es-EC" sz="2133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DISEÑO DIGITAL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18B08670-DB2F-F2FD-A1DF-6D6E852644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707" y="453003"/>
            <a:ext cx="1173861" cy="120000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95760BC5-D083-AACC-0E6A-34B032EFBBE6}"/>
              </a:ext>
            </a:extLst>
          </p:cNvPr>
          <p:cNvSpPr txBox="1"/>
          <p:nvPr/>
        </p:nvSpPr>
        <p:spPr>
          <a:xfrm>
            <a:off x="3044486" y="4623508"/>
            <a:ext cx="62340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TUTOR</a:t>
            </a:r>
            <a:r>
              <a:rPr lang="es-EC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s-EC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ING. NATA CASTRO DAISY JUDITH. MSC.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F593445-E841-3330-4480-42F825BB4675}"/>
              </a:ext>
            </a:extLst>
          </p:cNvPr>
          <p:cNvSpPr txBox="1"/>
          <p:nvPr/>
        </p:nvSpPr>
        <p:spPr>
          <a:xfrm>
            <a:off x="4230596" y="5313896"/>
            <a:ext cx="39068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C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AUTOR: </a:t>
            </a:r>
          </a:p>
          <a:p>
            <a:pPr algn="ctr"/>
            <a:r>
              <a:rPr lang="es-EC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MORALES COBEÑA MIYAKO KUSHIRO</a:t>
            </a:r>
          </a:p>
        </p:txBody>
      </p:sp>
      <p:sp>
        <p:nvSpPr>
          <p:cNvPr id="18" name="Cuadro de texto 1">
            <a:extLst>
              <a:ext uri="{FF2B5EF4-FFF2-40B4-BE49-F238E27FC236}">
                <a16:creationId xmlns:a16="http://schemas.microsoft.com/office/drawing/2014/main" id="{A36D9145-4213-DD8B-DBC6-9F68F6B6D741}"/>
              </a:ext>
            </a:extLst>
          </p:cNvPr>
          <p:cNvSpPr txBox="1"/>
          <p:nvPr/>
        </p:nvSpPr>
        <p:spPr>
          <a:xfrm>
            <a:off x="5135001" y="5870777"/>
            <a:ext cx="2098040" cy="531707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none" lIns="121920" tIns="60960" rIns="121920" bIns="609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  <a:spcAft>
                <a:spcPts val="1067"/>
              </a:spcAft>
            </a:pPr>
            <a:r>
              <a:rPr lang="es-EC" b="1" kern="100" dirty="0">
                <a:ln w="6731" cap="flat" cmpd="sng" algn="ctr">
                  <a:solidFill>
                    <a:srgbClr val="7C7C7C"/>
                  </a:solidFill>
                  <a:prstDash val="solid"/>
                  <a:round/>
                </a:ln>
                <a:solidFill>
                  <a:schemeClr val="bg1"/>
                </a:solidFill>
                <a:effectLst>
                  <a:outerShdw dist="38100" dir="2700000" algn="bl">
                    <a:schemeClr val="accent5"/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PPA 2025 - 2026</a:t>
            </a:r>
            <a:endParaRPr lang="es-EC" sz="1467" b="1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2E7D11F-ACA8-E2B2-5077-10F692206D83}"/>
              </a:ext>
            </a:extLst>
          </p:cNvPr>
          <p:cNvSpPr txBox="1"/>
          <p:nvPr/>
        </p:nvSpPr>
        <p:spPr>
          <a:xfrm>
            <a:off x="1288314" y="2286135"/>
            <a:ext cx="9791405" cy="2103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TÍTULO: </a:t>
            </a:r>
          </a:p>
          <a:p>
            <a:pPr algn="ctr"/>
            <a:r>
              <a:rPr lang="es-419" sz="2667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MODELO CUALITATIVO BASADO EN INTELIGENCIA ARTIFICIAL GENERATIVA PARA EL DISEÑO DE INTERFACES EDUCATIVAS: APLICACIÓN EN LA ENSEÑANZA DE TRIGONOMETRÍA</a:t>
            </a:r>
            <a:endParaRPr lang="es-EC" sz="2667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21F9B15-72AE-FDDB-42DD-08FF118566B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5361" y="555420"/>
            <a:ext cx="1602316" cy="12024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 descr="APIs para principiantes: ¿Cómo utilizar una API? Una guía completa |  AppMaster">
            <a:extLst>
              <a:ext uri="{FF2B5EF4-FFF2-40B4-BE49-F238E27FC236}">
                <a16:creationId xmlns:a16="http://schemas.microsoft.com/office/drawing/2014/main" id="{03A98FDE-C51A-AE58-CEA7-5CA5070A4F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52" t="7015" r="12421" b="9190"/>
          <a:stretch/>
        </p:blipFill>
        <p:spPr bwMode="auto">
          <a:xfrm>
            <a:off x="5715001" y="1676400"/>
            <a:ext cx="4221956" cy="2670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418;p38">
            <a:extLst>
              <a:ext uri="{FF2B5EF4-FFF2-40B4-BE49-F238E27FC236}">
                <a16:creationId xmlns:a16="http://schemas.microsoft.com/office/drawing/2014/main" id="{C90A8040-F4DD-8961-2473-103B4D97C559}"/>
              </a:ext>
            </a:extLst>
          </p:cNvPr>
          <p:cNvSpPr txBox="1">
            <a:spLocks/>
          </p:cNvSpPr>
          <p:nvPr/>
        </p:nvSpPr>
        <p:spPr>
          <a:xfrm>
            <a:off x="368594" y="263887"/>
            <a:ext cx="4725583" cy="699387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419" sz="373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INTRODUCCIÓN:</a:t>
            </a:r>
            <a:endParaRPr lang="es-EC" sz="3733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Preparando a estudiantes y docentes para un futuro con IA - ProFuturo">
            <a:extLst>
              <a:ext uri="{FF2B5EF4-FFF2-40B4-BE49-F238E27FC236}">
                <a16:creationId xmlns:a16="http://schemas.microsoft.com/office/drawing/2014/main" id="{8847241D-F14F-029F-4A98-7A9287AD54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5" t="1768" r="12883" b="4104"/>
          <a:stretch/>
        </p:blipFill>
        <p:spPr bwMode="auto">
          <a:xfrm>
            <a:off x="0" y="1295400"/>
            <a:ext cx="5451552" cy="375186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6784C25-3B55-49C9-B05D-B596C0A00F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6026" b="80774" l="7500" r="94844">
                        <a14:foregroundMark x1="62500" y1="38804" x2="62500" y2="38804"/>
                        <a14:foregroundMark x1="67031" y1="35991" x2="67031" y2="35991"/>
                        <a14:foregroundMark x1="70469" y1="29543" x2="70469" y2="29543"/>
                        <a14:foregroundMark x1="68906" y1="32825" x2="68906" y2="32825"/>
                        <a14:foregroundMark x1="70000" y1="32474" x2="70000" y2="32474"/>
                        <a14:foregroundMark x1="76797" y1="37163" x2="76797" y2="37163"/>
                        <a14:foregroundMark x1="81953" y1="30012" x2="81953" y2="30012"/>
                        <a14:foregroundMark x1="57656" y1="36108" x2="57656" y2="36108"/>
                        <a14:foregroundMark x1="59688" y1="30012" x2="59688" y2="30012"/>
                        <a14:foregroundMark x1="36406" y1="40328" x2="36406" y2="40328"/>
                        <a14:foregroundMark x1="40781" y1="54045" x2="40781" y2="54045"/>
                        <a14:foregroundMark x1="20469" y1="45838" x2="20469" y2="45838"/>
                        <a14:foregroundMark x1="23984" y1="74560" x2="23984" y2="74560"/>
                        <a14:foregroundMark x1="66328" y1="49004" x2="66328" y2="49004"/>
                        <a14:foregroundMark x1="87813" y1="52638" x2="87813" y2="52638"/>
                        <a14:foregroundMark x1="85156" y1="44666" x2="85156" y2="44666"/>
                        <a14:foregroundMark x1="83047" y1="43962" x2="90547" y2="58265"/>
                        <a14:foregroundMark x1="92813" y1="69871" x2="93750" y2="74912"/>
                        <a14:foregroundMark x1="80234" y1="49590" x2="80234" y2="49590"/>
                        <a14:foregroundMark x1="77578" y1="48066" x2="81328" y2="45135"/>
                        <a14:foregroundMark x1="77031" y1="46190" x2="77031" y2="46190"/>
                        <a14:foregroundMark x1="78516" y1="44783" x2="78516" y2="44783"/>
                        <a14:foregroundMark x1="80391" y1="33880" x2="80391" y2="33880"/>
                        <a14:backgroundMark x1="31406" y1="66706" x2="31406" y2="66706"/>
                      </a14:backgroundRemoval>
                    </a14:imgEffect>
                  </a14:imgLayer>
                </a14:imgProps>
              </a:ext>
            </a:extLst>
          </a:blip>
          <a:srcRect l="7380" t="25506" r="4740" b="18508"/>
          <a:stretch/>
        </p:blipFill>
        <p:spPr>
          <a:xfrm>
            <a:off x="4573236" y="5017852"/>
            <a:ext cx="4334427" cy="184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262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18;p38">
            <a:extLst>
              <a:ext uri="{FF2B5EF4-FFF2-40B4-BE49-F238E27FC236}">
                <a16:creationId xmlns:a16="http://schemas.microsoft.com/office/drawing/2014/main" id="{048E424E-E11A-0A88-85E9-3C013024F87E}"/>
              </a:ext>
            </a:extLst>
          </p:cNvPr>
          <p:cNvSpPr txBox="1">
            <a:spLocks/>
          </p:cNvSpPr>
          <p:nvPr/>
        </p:nvSpPr>
        <p:spPr>
          <a:xfrm>
            <a:off x="-63819" y="163729"/>
            <a:ext cx="4725583" cy="699387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419" sz="373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PROBLEMÁTICA:</a:t>
            </a:r>
            <a:endParaRPr lang="es-EC" sz="3733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E4F7388-CB65-D7AD-29C4-54353CBB9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3400" y="1857553"/>
            <a:ext cx="4156739" cy="415673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27B4BF2-26EE-249B-191D-434D53E82AA7}"/>
              </a:ext>
            </a:extLst>
          </p:cNvPr>
          <p:cNvSpPr txBox="1"/>
          <p:nvPr/>
        </p:nvSpPr>
        <p:spPr>
          <a:xfrm>
            <a:off x="5410200" y="1857553"/>
            <a:ext cx="3986941" cy="634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1067"/>
              </a:spcAft>
            </a:pPr>
            <a:r>
              <a:rPr lang="es-419" sz="2667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Esbozar un modelo…. </a:t>
            </a:r>
            <a:endParaRPr lang="es-EC" sz="2667" b="1" kern="100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51ECB5F-699D-D273-16AC-ECF413A8FAB5}"/>
              </a:ext>
            </a:extLst>
          </p:cNvPr>
          <p:cNvSpPr txBox="1"/>
          <p:nvPr/>
        </p:nvSpPr>
        <p:spPr>
          <a:xfrm>
            <a:off x="4661764" y="3618752"/>
            <a:ext cx="4589355" cy="634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1067"/>
              </a:spcAft>
            </a:pPr>
            <a:r>
              <a:rPr lang="es-419" sz="2667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Diseñar una aplicación web…</a:t>
            </a:r>
            <a:endParaRPr lang="es-EC" sz="2667" b="1" kern="100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BB8F2C6-13CA-05F2-DE7D-01B613B65AE6}"/>
              </a:ext>
            </a:extLst>
          </p:cNvPr>
          <p:cNvSpPr txBox="1"/>
          <p:nvPr/>
        </p:nvSpPr>
        <p:spPr>
          <a:xfrm>
            <a:off x="3867949" y="5379951"/>
            <a:ext cx="4456101" cy="634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1067"/>
              </a:spcAft>
            </a:pPr>
            <a:r>
              <a:rPr lang="es-419" sz="2667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Determinar la usabilidad…</a:t>
            </a:r>
            <a:endParaRPr lang="es-EC" sz="2667" b="1" kern="100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418;p38">
            <a:extLst>
              <a:ext uri="{FF2B5EF4-FFF2-40B4-BE49-F238E27FC236}">
                <a16:creationId xmlns:a16="http://schemas.microsoft.com/office/drawing/2014/main" id="{C522B47A-6E1A-62C2-2F12-4C494B0DFE4A}"/>
              </a:ext>
            </a:extLst>
          </p:cNvPr>
          <p:cNvSpPr txBox="1">
            <a:spLocks/>
          </p:cNvSpPr>
          <p:nvPr/>
        </p:nvSpPr>
        <p:spPr>
          <a:xfrm>
            <a:off x="5410200" y="169949"/>
            <a:ext cx="4725583" cy="699387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419" sz="373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OBJETIVOS:</a:t>
            </a:r>
            <a:endParaRPr lang="es-EC" sz="3733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323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98759-C788-E025-8CC1-42F3ABCCC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18;p38">
            <a:extLst>
              <a:ext uri="{FF2B5EF4-FFF2-40B4-BE49-F238E27FC236}">
                <a16:creationId xmlns:a16="http://schemas.microsoft.com/office/drawing/2014/main" id="{295BC765-CCE8-2555-4677-324747A67CCD}"/>
              </a:ext>
            </a:extLst>
          </p:cNvPr>
          <p:cNvSpPr txBox="1">
            <a:spLocks/>
          </p:cNvSpPr>
          <p:nvPr/>
        </p:nvSpPr>
        <p:spPr>
          <a:xfrm>
            <a:off x="236841" y="133183"/>
            <a:ext cx="4725583" cy="699387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419" sz="373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METODOLOGÍA:</a:t>
            </a:r>
            <a:endParaRPr lang="es-EC" sz="3733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6E9D88A-A93F-63DE-7BDF-D06FC906ED40}"/>
              </a:ext>
            </a:extLst>
          </p:cNvPr>
          <p:cNvSpPr txBox="1"/>
          <p:nvPr/>
        </p:nvSpPr>
        <p:spPr>
          <a:xfrm>
            <a:off x="272401" y="1367687"/>
            <a:ext cx="3986941" cy="1250022"/>
          </a:xfrm>
          <a:prstGeom prst="rect">
            <a:avLst/>
          </a:prstGeom>
          <a:noFill/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1067"/>
              </a:spcAft>
            </a:pPr>
            <a:r>
              <a:rPr lang="es-419" sz="2667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TIPO DE INVESTIGACION</a:t>
            </a:r>
            <a:endParaRPr lang="es-EC" sz="2667" b="1" kern="100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D113594-DF96-B1BB-AE9F-87F2B4C0A4D6}"/>
              </a:ext>
            </a:extLst>
          </p:cNvPr>
          <p:cNvSpPr txBox="1"/>
          <p:nvPr/>
        </p:nvSpPr>
        <p:spPr>
          <a:xfrm>
            <a:off x="5309457" y="1675464"/>
            <a:ext cx="3986941" cy="634341"/>
          </a:xfrm>
          <a:prstGeom prst="rect">
            <a:avLst/>
          </a:prstGeom>
          <a:noFill/>
          <a:ln>
            <a:solidFill>
              <a:srgbClr val="00B05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1067"/>
              </a:spcAft>
            </a:pPr>
            <a:r>
              <a:rPr lang="es-419" sz="2667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Aplicada y Descriptiva</a:t>
            </a:r>
            <a:endParaRPr lang="es-EC" sz="2667" kern="100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697B8D9-5E4A-D701-6BAA-636473D3B737}"/>
              </a:ext>
            </a:extLst>
          </p:cNvPr>
          <p:cNvSpPr txBox="1"/>
          <p:nvPr/>
        </p:nvSpPr>
        <p:spPr>
          <a:xfrm>
            <a:off x="272401" y="3194541"/>
            <a:ext cx="3986941" cy="1250022"/>
          </a:xfrm>
          <a:prstGeom prst="rect">
            <a:avLst/>
          </a:prstGeom>
          <a:noFill/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1067"/>
              </a:spcAft>
            </a:pPr>
            <a:r>
              <a:rPr lang="es-419" sz="2667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MÉTODO DE INVESTIGACION</a:t>
            </a:r>
            <a:endParaRPr lang="es-EC" sz="2667" b="1" kern="100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E0C119E-FA03-3D6B-1832-B0664EA411A4}"/>
              </a:ext>
            </a:extLst>
          </p:cNvPr>
          <p:cNvSpPr txBox="1"/>
          <p:nvPr/>
        </p:nvSpPr>
        <p:spPr>
          <a:xfrm>
            <a:off x="5309459" y="3126146"/>
            <a:ext cx="3986941" cy="1391086"/>
          </a:xfrm>
          <a:prstGeom prst="rect">
            <a:avLst/>
          </a:prstGeom>
          <a:noFill/>
          <a:ln>
            <a:solidFill>
              <a:srgbClr val="00B05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1067"/>
              </a:spcAft>
            </a:pPr>
            <a:r>
              <a:rPr lang="es-419" sz="2667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Método Analítico-Sintético</a:t>
            </a:r>
          </a:p>
          <a:p>
            <a:pPr algn="ctr">
              <a:lnSpc>
                <a:spcPct val="150000"/>
              </a:lnSpc>
              <a:spcAft>
                <a:spcPts val="1067"/>
              </a:spcAft>
            </a:pPr>
            <a:r>
              <a:rPr lang="es-EC" sz="2667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Deductivo</a:t>
            </a:r>
            <a:endParaRPr lang="es-EC" sz="2667" kern="100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4E0716F-47B8-746D-29B7-7D47A89800C0}"/>
              </a:ext>
            </a:extLst>
          </p:cNvPr>
          <p:cNvSpPr txBox="1"/>
          <p:nvPr/>
        </p:nvSpPr>
        <p:spPr>
          <a:xfrm>
            <a:off x="272401" y="5021394"/>
            <a:ext cx="3986941" cy="1250022"/>
          </a:xfrm>
          <a:prstGeom prst="rect">
            <a:avLst/>
          </a:prstGeom>
          <a:noFill/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1067"/>
              </a:spcAft>
            </a:pPr>
            <a:r>
              <a:rPr lang="es-419" sz="2667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DISEÑO DE INVESTIGACION</a:t>
            </a:r>
            <a:endParaRPr lang="es-EC" sz="2667" b="1" kern="100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0A0B096-BE62-A3ED-CCCF-F8C06F668BEF}"/>
              </a:ext>
            </a:extLst>
          </p:cNvPr>
          <p:cNvSpPr txBox="1"/>
          <p:nvPr/>
        </p:nvSpPr>
        <p:spPr>
          <a:xfrm>
            <a:off x="5309459" y="4953000"/>
            <a:ext cx="3986941" cy="1391086"/>
          </a:xfrm>
          <a:prstGeom prst="rect">
            <a:avLst/>
          </a:prstGeom>
          <a:noFill/>
          <a:ln>
            <a:solidFill>
              <a:srgbClr val="00B05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1067"/>
              </a:spcAft>
            </a:pPr>
            <a:r>
              <a:rPr lang="es-419" sz="2667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 Experimental</a:t>
            </a:r>
          </a:p>
          <a:p>
            <a:pPr algn="ctr">
              <a:lnSpc>
                <a:spcPct val="150000"/>
              </a:lnSpc>
              <a:spcAft>
                <a:spcPts val="1067"/>
              </a:spcAft>
            </a:pPr>
            <a:r>
              <a:rPr lang="es-EC" sz="2667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Transversal</a:t>
            </a:r>
            <a:endParaRPr lang="es-EC" sz="2667" kern="100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085E273B-121B-9FF1-3A08-DAC76B808233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4259342" y="3819552"/>
            <a:ext cx="1050117" cy="2137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501A367C-B43A-A4D2-7112-7244C03D68D0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4259342" y="1992635"/>
            <a:ext cx="1050115" cy="63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01D12EC7-50F7-23A7-C6CF-57CE3F0F3175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4259342" y="5646405"/>
            <a:ext cx="1050117" cy="2138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7029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18;p38">
            <a:extLst>
              <a:ext uri="{FF2B5EF4-FFF2-40B4-BE49-F238E27FC236}">
                <a16:creationId xmlns:a16="http://schemas.microsoft.com/office/drawing/2014/main" id="{8011786D-892D-4D6C-F65F-E9487A7D584E}"/>
              </a:ext>
            </a:extLst>
          </p:cNvPr>
          <p:cNvSpPr txBox="1">
            <a:spLocks/>
          </p:cNvSpPr>
          <p:nvPr/>
        </p:nvSpPr>
        <p:spPr>
          <a:xfrm>
            <a:off x="236841" y="133183"/>
            <a:ext cx="4725583" cy="699387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419" sz="373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RESULTADO #1:</a:t>
            </a:r>
            <a:endParaRPr lang="es-EC" sz="3733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46D8C6DE-5BFA-752A-AF62-0821E294E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5480" y="1066800"/>
            <a:ext cx="2570520" cy="565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535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545FE-60B6-B31C-1B44-1D6279DE8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18;p38">
            <a:extLst>
              <a:ext uri="{FF2B5EF4-FFF2-40B4-BE49-F238E27FC236}">
                <a16:creationId xmlns:a16="http://schemas.microsoft.com/office/drawing/2014/main" id="{79E3FD79-2F88-BDBF-1FC4-A56BE0944ECD}"/>
              </a:ext>
            </a:extLst>
          </p:cNvPr>
          <p:cNvSpPr txBox="1">
            <a:spLocks/>
          </p:cNvSpPr>
          <p:nvPr/>
        </p:nvSpPr>
        <p:spPr>
          <a:xfrm>
            <a:off x="236841" y="133183"/>
            <a:ext cx="4725583" cy="699387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419" sz="373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RESULTADO #1:</a:t>
            </a:r>
            <a:endParaRPr lang="es-EC" sz="3733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BBB58DE-78C8-015B-18B9-099CFB4CB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287" y="1600200"/>
            <a:ext cx="6546273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190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796E9-56EB-4552-E7E4-9913456DD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763C08E-8173-13DA-4EBF-0EFFBCCEC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3342178"/>
            <a:ext cx="7597878" cy="3367088"/>
          </a:xfrm>
          <a:prstGeom prst="rect">
            <a:avLst/>
          </a:prstGeom>
        </p:spPr>
      </p:pic>
      <p:sp>
        <p:nvSpPr>
          <p:cNvPr id="2" name="Google Shape;418;p38">
            <a:extLst>
              <a:ext uri="{FF2B5EF4-FFF2-40B4-BE49-F238E27FC236}">
                <a16:creationId xmlns:a16="http://schemas.microsoft.com/office/drawing/2014/main" id="{7742539D-626B-C5CB-45D6-3000C9DAF304}"/>
              </a:ext>
            </a:extLst>
          </p:cNvPr>
          <p:cNvSpPr txBox="1">
            <a:spLocks/>
          </p:cNvSpPr>
          <p:nvPr/>
        </p:nvSpPr>
        <p:spPr>
          <a:xfrm>
            <a:off x="236841" y="133183"/>
            <a:ext cx="4725583" cy="699387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419" sz="373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RESULTADO #2:</a:t>
            </a:r>
            <a:endParaRPr lang="es-EC" sz="3733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50F583B-AE4D-5FA5-0702-DC408C1EB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" y="1219200"/>
            <a:ext cx="6150155" cy="32766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7FADC97-13EC-6FDC-37C2-A9146212DA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545740" y="4495800"/>
            <a:ext cx="1862138" cy="17526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4831A59F-2089-C0B6-46A4-1390E02339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486400" y="832570"/>
            <a:ext cx="2800951" cy="2371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771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7AB37-F7EB-C802-6B9E-BAD3B4A7F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18;p38">
            <a:extLst>
              <a:ext uri="{FF2B5EF4-FFF2-40B4-BE49-F238E27FC236}">
                <a16:creationId xmlns:a16="http://schemas.microsoft.com/office/drawing/2014/main" id="{D53571D6-E252-C93E-B8AE-6384FBC16DB9}"/>
              </a:ext>
            </a:extLst>
          </p:cNvPr>
          <p:cNvSpPr txBox="1">
            <a:spLocks/>
          </p:cNvSpPr>
          <p:nvPr/>
        </p:nvSpPr>
        <p:spPr>
          <a:xfrm>
            <a:off x="236841" y="133183"/>
            <a:ext cx="4725583" cy="699387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419" sz="373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RESULTADO #2:</a:t>
            </a:r>
            <a:endParaRPr lang="es-EC" sz="3733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7973B85-F1B4-CF39-EBFF-7CB6C8F8DF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44728"/>
          <a:stretch>
            <a:fillRect/>
          </a:stretch>
        </p:blipFill>
        <p:spPr>
          <a:xfrm>
            <a:off x="206362" y="1752600"/>
            <a:ext cx="5555478" cy="4651138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4D7A24EB-29A4-5E41-C0F4-5907C8D8B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746" y="3797181"/>
            <a:ext cx="3219450" cy="561975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4C9E82BE-47ED-2032-4768-41A818671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1839" y="2543474"/>
            <a:ext cx="5994291" cy="2530737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B82F96F5-1111-43C6-6734-9FA0D5665D35}"/>
              </a:ext>
            </a:extLst>
          </p:cNvPr>
          <p:cNvSpPr txBox="1"/>
          <p:nvPr/>
        </p:nvSpPr>
        <p:spPr>
          <a:xfrm>
            <a:off x="1025284" y="1772453"/>
            <a:ext cx="3986941" cy="634341"/>
          </a:xfrm>
          <a:prstGeom prst="rect">
            <a:avLst/>
          </a:prstGeom>
          <a:noFill/>
          <a:ln>
            <a:solidFill>
              <a:srgbClr val="00B05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1067"/>
              </a:spcAft>
            </a:pPr>
            <a:r>
              <a:rPr lang="es-419" sz="2667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Introducción</a:t>
            </a:r>
            <a:endParaRPr lang="es-EC" sz="2667" b="1" kern="100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03DF735-CF1C-D250-1578-0D59FC4F833D}"/>
              </a:ext>
            </a:extLst>
          </p:cNvPr>
          <p:cNvSpPr txBox="1"/>
          <p:nvPr/>
        </p:nvSpPr>
        <p:spPr>
          <a:xfrm>
            <a:off x="1025284" y="2771361"/>
            <a:ext cx="3986941" cy="634341"/>
          </a:xfrm>
          <a:prstGeom prst="rect">
            <a:avLst/>
          </a:prstGeom>
          <a:noFill/>
          <a:ln>
            <a:solidFill>
              <a:srgbClr val="00B05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1067"/>
              </a:spcAft>
            </a:pPr>
            <a:r>
              <a:rPr lang="es-419" sz="2667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Conceptos Clave</a:t>
            </a:r>
            <a:endParaRPr lang="es-EC" sz="2667" b="1" kern="100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F0C584C-2DE1-B2C5-083A-4727231BD453}"/>
              </a:ext>
            </a:extLst>
          </p:cNvPr>
          <p:cNvSpPr txBox="1"/>
          <p:nvPr/>
        </p:nvSpPr>
        <p:spPr>
          <a:xfrm>
            <a:off x="1025284" y="5768085"/>
            <a:ext cx="3986941" cy="634341"/>
          </a:xfrm>
          <a:prstGeom prst="rect">
            <a:avLst/>
          </a:prstGeom>
          <a:noFill/>
          <a:ln>
            <a:solidFill>
              <a:srgbClr val="00B05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1067"/>
              </a:spcAft>
            </a:pPr>
            <a:r>
              <a:rPr lang="es-419" sz="2667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Aplicaciones Prácticas</a:t>
            </a:r>
            <a:endParaRPr lang="es-EC" sz="2667" b="1" kern="100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81A19C5-9002-5DAA-8DAA-5629E6625D6D}"/>
              </a:ext>
            </a:extLst>
          </p:cNvPr>
          <p:cNvSpPr txBox="1"/>
          <p:nvPr/>
        </p:nvSpPr>
        <p:spPr>
          <a:xfrm>
            <a:off x="1025284" y="4769177"/>
            <a:ext cx="3986941" cy="634341"/>
          </a:xfrm>
          <a:prstGeom prst="rect">
            <a:avLst/>
          </a:prstGeom>
          <a:noFill/>
          <a:ln>
            <a:solidFill>
              <a:srgbClr val="00B05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1067"/>
              </a:spcAft>
            </a:pPr>
            <a:r>
              <a:rPr lang="es-419" sz="2667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Ejemplo Resuelto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CFDF74C-E1C3-33CB-D4D6-22E95B9FEACE}"/>
              </a:ext>
            </a:extLst>
          </p:cNvPr>
          <p:cNvSpPr txBox="1"/>
          <p:nvPr/>
        </p:nvSpPr>
        <p:spPr>
          <a:xfrm>
            <a:off x="1025284" y="3770269"/>
            <a:ext cx="3986941" cy="634341"/>
          </a:xfrm>
          <a:prstGeom prst="rect">
            <a:avLst/>
          </a:prstGeom>
          <a:noFill/>
          <a:ln>
            <a:solidFill>
              <a:srgbClr val="00B05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1067"/>
              </a:spcAft>
            </a:pPr>
            <a:r>
              <a:rPr lang="es-419" sz="2667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Fórmulas Importantes</a:t>
            </a:r>
            <a:endParaRPr lang="es-EC" sz="2667" b="1" kern="100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502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8DDCB-17BF-3266-21E0-C4E539803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18;p38">
            <a:extLst>
              <a:ext uri="{FF2B5EF4-FFF2-40B4-BE49-F238E27FC236}">
                <a16:creationId xmlns:a16="http://schemas.microsoft.com/office/drawing/2014/main" id="{7AC36639-22A9-7D9D-EAD6-54DAA3449670}"/>
              </a:ext>
            </a:extLst>
          </p:cNvPr>
          <p:cNvSpPr txBox="1">
            <a:spLocks/>
          </p:cNvSpPr>
          <p:nvPr/>
        </p:nvSpPr>
        <p:spPr>
          <a:xfrm>
            <a:off x="236841" y="133183"/>
            <a:ext cx="4725583" cy="699387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419" sz="373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RESULTADO #2:</a:t>
            </a:r>
            <a:endParaRPr lang="es-EC" sz="3733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F4E2BFE-5B47-FA10-8CFF-4F1929551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37" y="1247900"/>
            <a:ext cx="9516759" cy="5476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981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BE422-172C-18EC-7C29-5CD0EF6F8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4604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</TotalTime>
  <Words>128</Words>
  <Application>Microsoft Office PowerPoint</Application>
  <PresentationFormat>Panorámica</PresentationFormat>
  <Paragraphs>36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Times New Roman</vt:lpstr>
      <vt:lpstr>Verdana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TÉCNICAS DE SOFT COMPUTING PARA DETERMINAR TIEMPO DE TITULACIÓN Y RETENCIÓN ESTUDIANTIL</dc:title>
  <dc:creator>Edison Cáceres</dc:creator>
  <cp:lastModifiedBy>Kushiro Morales</cp:lastModifiedBy>
  <cp:revision>4</cp:revision>
  <dcterms:created xsi:type="dcterms:W3CDTF">2025-08-08T01:16:58Z</dcterms:created>
  <dcterms:modified xsi:type="dcterms:W3CDTF">2025-08-23T02:18:05Z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2024-02-23T00:00:00Z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2025-08-08T00:00:00Z</vt:filetime>
  </property>
  <property fmtid="{D5CDD505-2E9C-101B-9397-08002B2CF9AE}" pid="5" name="Producer">
    <vt:lpwstr>Microsoft® PowerPoint® para Microsoft 365</vt:lpwstr>
  </property>
</Properties>
</file>