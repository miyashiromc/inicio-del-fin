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77185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52953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2729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88287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2314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55920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3264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5538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8792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89674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5802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04100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032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73240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0245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6063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1966B-A8C3-46B1-9454-AB3AF0310BBC}" type="datetimeFigureOut">
              <a:rPr lang="es-EC" smtClean="0"/>
              <a:t>7/7/2025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2C59197-D521-4732-94A6-9C134E4D762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483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4AA1D-F72A-F92B-FFAE-6C09E461E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1458" y="161830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ES"/>
              <a:t>Diseño de infraestructura de telecomunicaciones para un edificio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976095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59B2BC1-F9F3-F940-CAAC-578F07601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5991" y="1372615"/>
            <a:ext cx="9144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Objetivo: canalización, cableado estructurado, cuarto de comunicaciones.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Entregables: planos, memoria técnica, materiales, presupuesto.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Enfoque:  TIA/EIA-568.</a:t>
            </a:r>
          </a:p>
        </p:txBody>
      </p:sp>
    </p:spTree>
    <p:extLst>
      <p:ext uri="{BB962C8B-B14F-4D97-AF65-F5344CB8AC3E}">
        <p14:creationId xmlns:p14="http://schemas.microsoft.com/office/powerpoint/2010/main" val="1019316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3A84DB6-1584-7F27-FA91-E1CA80BB61CB}"/>
              </a:ext>
            </a:extLst>
          </p:cNvPr>
          <p:cNvSpPr txBox="1"/>
          <p:nvPr/>
        </p:nvSpPr>
        <p:spPr>
          <a:xfrm>
            <a:off x="1050011" y="1420069"/>
            <a:ext cx="10573718" cy="4409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EC" sz="2400" b="1" dirty="0">
                <a:latin typeface="Arial" panose="020B0604020202020204" pitchFamily="34" charset="0"/>
                <a:cs typeface="Arial" panose="020B0604020202020204" pitchFamily="34" charset="0"/>
              </a:rPr>
              <a:t>ETAPA 1: Levantamiento de requerimientos y análisis del entorno</a:t>
            </a:r>
          </a:p>
          <a:p>
            <a:pPr algn="just">
              <a:lnSpc>
                <a:spcPct val="200000"/>
              </a:lnSpc>
            </a:pPr>
            <a:r>
              <a:rPr lang="es-EC" sz="2400" b="1" dirty="0">
                <a:latin typeface="Arial" panose="020B0604020202020204" pitchFamily="34" charset="0"/>
                <a:cs typeface="Arial" panose="020B0604020202020204" pitchFamily="34" charset="0"/>
              </a:rPr>
              <a:t>1.1 Identificar el tipo de edificio</a:t>
            </a:r>
          </a:p>
          <a:p>
            <a:pPr algn="just">
              <a:lnSpc>
                <a:spcPct val="200000"/>
              </a:lnSpc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¿Residencial, oficinas, escuela, clínica, etc.?</a:t>
            </a:r>
          </a:p>
          <a:p>
            <a:pPr algn="just">
              <a:lnSpc>
                <a:spcPct val="200000"/>
              </a:lnSpc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¿Cuántos pisos y áreas tiene?</a:t>
            </a:r>
          </a:p>
          <a:p>
            <a:pPr algn="just">
              <a:lnSpc>
                <a:spcPct val="200000"/>
              </a:lnSpc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¿Cuántas unidades de usuario (departamentos, aulas, oficinas)?</a:t>
            </a:r>
          </a:p>
          <a:p>
            <a:pPr algn="just">
              <a:lnSpc>
                <a:spcPct val="200000"/>
              </a:lnSpc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0579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4E893-6DF5-FF72-1244-278F8390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6FCC6AC-061D-36F7-650B-F5584AA71439}"/>
              </a:ext>
            </a:extLst>
          </p:cNvPr>
          <p:cNvSpPr txBox="1"/>
          <p:nvPr/>
        </p:nvSpPr>
        <p:spPr>
          <a:xfrm>
            <a:off x="1266988" y="1125601"/>
            <a:ext cx="10573718" cy="5563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C" sz="2400" b="1" dirty="0"/>
              <a:t>1.2 Recolectar necesidades de telecomunicaciones</a:t>
            </a:r>
          </a:p>
          <a:p>
            <a:pPr algn="just">
              <a:lnSpc>
                <a:spcPct val="150000"/>
              </a:lnSpc>
            </a:pPr>
            <a:endParaRPr lang="es-EC" sz="2400" b="1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C" sz="2400" dirty="0"/>
              <a:t>Servicios requeridos: Internet, telefonía, CCTV, TV satelital, </a:t>
            </a:r>
            <a:r>
              <a:rPr lang="es-EC" sz="2400" dirty="0" err="1"/>
              <a:t>intercom</a:t>
            </a:r>
            <a:r>
              <a:rPr lang="es-EC" sz="2400" dirty="0"/>
              <a:t>, redes </a:t>
            </a:r>
            <a:r>
              <a:rPr lang="es-EC" sz="2400" dirty="0" err="1"/>
              <a:t>Wi</a:t>
            </a:r>
            <a:r>
              <a:rPr lang="es-EC" sz="2400" dirty="0"/>
              <a:t>-Fi.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C" sz="2400" dirty="0"/>
              <a:t>Dispositivos a conectar: computadoras, impresoras, cámaras, switches, etc.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C" sz="2400" dirty="0"/>
              <a:t>Requerimientos por piso o área.</a:t>
            </a:r>
          </a:p>
          <a:p>
            <a:pPr algn="just">
              <a:lnSpc>
                <a:spcPct val="150000"/>
              </a:lnSpc>
            </a:pPr>
            <a:endParaRPr lang="es-EC" sz="2400" dirty="0"/>
          </a:p>
          <a:p>
            <a:pPr algn="just">
              <a:lnSpc>
                <a:spcPct val="150000"/>
              </a:lnSpc>
            </a:pPr>
            <a:r>
              <a:rPr lang="es-EC" sz="2400" b="1" dirty="0"/>
              <a:t>Entregable:</a:t>
            </a:r>
            <a:r>
              <a:rPr lang="es-EC" sz="2400" dirty="0"/>
              <a:t> Documento de requerimientos iniciales.</a:t>
            </a:r>
          </a:p>
          <a:p>
            <a:pPr algn="just">
              <a:lnSpc>
                <a:spcPct val="150000"/>
              </a:lnSpc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337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6F29B47-7427-215A-82B8-D4DC8455B0B2}"/>
              </a:ext>
            </a:extLst>
          </p:cNvPr>
          <p:cNvSpPr txBox="1"/>
          <p:nvPr/>
        </p:nvSpPr>
        <p:spPr>
          <a:xfrm>
            <a:off x="1902416" y="566678"/>
            <a:ext cx="9767807" cy="6210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C" sz="2800" b="1" dirty="0">
                <a:latin typeface="Arial" panose="020B0604020202020204" pitchFamily="34" charset="0"/>
                <a:cs typeface="Arial" panose="020B0604020202020204" pitchFamily="34" charset="0"/>
              </a:rPr>
              <a:t>ETAPA 2: Diseño conceptual</a:t>
            </a:r>
          </a:p>
          <a:p>
            <a:pPr algn="just">
              <a:lnSpc>
                <a:spcPct val="150000"/>
              </a:lnSpc>
            </a:pPr>
            <a:r>
              <a:rPr lang="es-EC" sz="2400" b="1" dirty="0">
                <a:latin typeface="Arial" panose="020B0604020202020204" pitchFamily="34" charset="0"/>
                <a:cs typeface="Arial" panose="020B0604020202020204" pitchFamily="34" charset="0"/>
              </a:rPr>
              <a:t>2.1 Elegir la normativa de referencia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España/</a:t>
            </a:r>
            <a:r>
              <a:rPr lang="es-EC" sz="2400" dirty="0" err="1">
                <a:latin typeface="Arial" panose="020B0604020202020204" pitchFamily="34" charset="0"/>
                <a:cs typeface="Arial" panose="020B0604020202020204" pitchFamily="34" charset="0"/>
              </a:rPr>
              <a:t>LatAm</a:t>
            </a: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: RICT (Reglamento de Infraestructuras Comunes de Telecomunicaciones).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Internacional: TIA/EIA-568, ISO/IEC 11801, EN 50173.</a:t>
            </a:r>
          </a:p>
          <a:p>
            <a:pPr algn="just">
              <a:lnSpc>
                <a:spcPct val="150000"/>
              </a:lnSpc>
            </a:pPr>
            <a:r>
              <a:rPr lang="es-EC" sz="2400" b="1" dirty="0">
                <a:latin typeface="Arial" panose="020B0604020202020204" pitchFamily="34" charset="0"/>
                <a:cs typeface="Arial" panose="020B0604020202020204" pitchFamily="34" charset="0"/>
              </a:rPr>
              <a:t>2.2 Definir arquitectura general</a:t>
            </a:r>
          </a:p>
          <a:p>
            <a:pPr algn="just">
              <a:lnSpc>
                <a:spcPct val="150000"/>
              </a:lnSpc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Tipología de red: estrella jerárquica.</a:t>
            </a:r>
          </a:p>
          <a:p>
            <a:pPr algn="just">
              <a:lnSpc>
                <a:spcPct val="150000"/>
              </a:lnSpc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Niveles: </a:t>
            </a:r>
            <a:r>
              <a:rPr lang="es-EC" sz="2400" dirty="0" err="1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 vertical + red horizontal.</a:t>
            </a:r>
          </a:p>
          <a:p>
            <a:pPr algn="just">
              <a:lnSpc>
                <a:spcPct val="150000"/>
              </a:lnSpc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Tecnologías: UTP Cat5/Cat6A o fibra óptica para </a:t>
            </a:r>
            <a:r>
              <a:rPr lang="es-EC" sz="2400" dirty="0" err="1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s-EC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C" sz="2400" dirty="0">
                <a:latin typeface="Arial" panose="020B0604020202020204" pitchFamily="34" charset="0"/>
                <a:cs typeface="Arial" panose="020B0604020202020204" pitchFamily="34" charset="0"/>
              </a:rPr>
              <a:t>Entregable: Diagrama lógico de la red y normas aplicadas.</a:t>
            </a:r>
          </a:p>
        </p:txBody>
      </p:sp>
    </p:spTree>
    <p:extLst>
      <p:ext uri="{BB962C8B-B14F-4D97-AF65-F5344CB8AC3E}">
        <p14:creationId xmlns:p14="http://schemas.microsoft.com/office/powerpoint/2010/main" val="85575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9120540-C110-1E94-8B4B-3F36F99DAD49}"/>
              </a:ext>
            </a:extLst>
          </p:cNvPr>
          <p:cNvSpPr txBox="1"/>
          <p:nvPr/>
        </p:nvSpPr>
        <p:spPr>
          <a:xfrm>
            <a:off x="1653153" y="122531"/>
            <a:ext cx="10342535" cy="627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ETAPA 3: Diseño técnico detallado</a:t>
            </a:r>
          </a:p>
          <a:p>
            <a:pPr algn="just">
              <a:lnSpc>
                <a:spcPct val="150000"/>
              </a:lnSpc>
              <a:buNone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3.1 Planos y puntos de red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Usar software CAD o Visio para planos eléctricos con: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Canalizaciones (bandejas, ductos, tubos).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Racks por piso.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Cuarto de comunicaciones principal (CPD).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Puntos de red en cada sala, oficina, aula o vivienda.</a:t>
            </a:r>
          </a:p>
          <a:p>
            <a:pPr algn="just">
              <a:lnSpc>
                <a:spcPct val="150000"/>
              </a:lnSpc>
              <a:buNone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3.2 Selección de materiales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Cable UTP/Fibra, canaletas,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patch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panels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tomas RJ-45, racks, switches.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Cálculo de cantidad por plano.</a:t>
            </a:r>
          </a:p>
          <a:p>
            <a:pPr algn="just">
              <a:lnSpc>
                <a:spcPct val="150000"/>
              </a:lnSpc>
              <a:buNone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🔹 3.3 Memoria de cálculo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Longitudes máximas permitidas.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Pérdidas de señal (si usas fibra).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Distancias entre CPMD y puntos de red.</a:t>
            </a:r>
          </a:p>
          <a:p>
            <a:pPr algn="just">
              <a:lnSpc>
                <a:spcPct val="150000"/>
              </a:lnSpc>
              <a:buNone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Entregables: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planos de telecomunicaciones, Lista de materiales, Memoria técnica de diseño.</a:t>
            </a:r>
          </a:p>
        </p:txBody>
      </p:sp>
    </p:spTree>
    <p:extLst>
      <p:ext uri="{BB962C8B-B14F-4D97-AF65-F5344CB8AC3E}">
        <p14:creationId xmlns:p14="http://schemas.microsoft.com/office/powerpoint/2010/main" val="26039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6FA90C9-A379-629A-763D-078B559F9960}"/>
              </a:ext>
            </a:extLst>
          </p:cNvPr>
          <p:cNvSpPr txBox="1"/>
          <p:nvPr/>
        </p:nvSpPr>
        <p:spPr>
          <a:xfrm>
            <a:off x="1592450" y="924500"/>
            <a:ext cx="10186261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ETAPA 4: Presupuesto y cronograma</a:t>
            </a:r>
          </a:p>
          <a:p>
            <a:pPr algn="just">
              <a:lnSpc>
                <a:spcPct val="150000"/>
              </a:lnSpc>
              <a:buNone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4.1 Cotización de materiales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Buscar precios reales en tiendas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Incluir mano de obra, herramientas, imprevistos.</a:t>
            </a:r>
          </a:p>
          <a:p>
            <a:pPr algn="just">
              <a:lnSpc>
                <a:spcPct val="150000"/>
              </a:lnSpc>
              <a:buNone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4.2 Cronograma de ejecución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Fases: canalización, tendido de cables, instalación de equipos, pruebas.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Usar diagramas Gantt (Excel o software de gestión de proyectos).</a:t>
            </a:r>
          </a:p>
          <a:p>
            <a:pPr algn="just">
              <a:lnSpc>
                <a:spcPct val="150000"/>
              </a:lnSpc>
              <a:buNone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Entregable: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Presupuesto detallado + cronograma.</a:t>
            </a:r>
          </a:p>
        </p:txBody>
      </p:sp>
    </p:spTree>
    <p:extLst>
      <p:ext uri="{BB962C8B-B14F-4D97-AF65-F5344CB8AC3E}">
        <p14:creationId xmlns:p14="http://schemas.microsoft.com/office/powerpoint/2010/main" val="3052305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0EBBC8-B333-0D24-564B-EB3C0A171EA1}"/>
              </a:ext>
            </a:extLst>
          </p:cNvPr>
          <p:cNvSpPr txBox="1"/>
          <p:nvPr/>
        </p:nvSpPr>
        <p:spPr>
          <a:xfrm>
            <a:off x="1019014" y="1370620"/>
            <a:ext cx="5076986" cy="4454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ES" sz="2400" b="1" dirty="0"/>
              <a:t>5.1 Entregar memoria técnica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Introducción del proyecto.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Normativa usada.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Diagrama de red.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Planos.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Lista de equipos y materiales.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Presupuesto.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Cronograma.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76D265-BE7A-AE14-2964-038446F68E57}"/>
              </a:ext>
            </a:extLst>
          </p:cNvPr>
          <p:cNvSpPr txBox="1"/>
          <p:nvPr/>
        </p:nvSpPr>
        <p:spPr>
          <a:xfrm>
            <a:off x="1700939" y="179543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C" sz="2800" b="1" dirty="0">
                <a:latin typeface="Arial" panose="020B0604020202020204" pitchFamily="34" charset="0"/>
                <a:cs typeface="Arial" panose="020B0604020202020204" pitchFamily="34" charset="0"/>
              </a:rPr>
              <a:t>ETAPA 5: Documentación final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59C9B81-E384-FE83-5D97-8380BA1898CC}"/>
              </a:ext>
            </a:extLst>
          </p:cNvPr>
          <p:cNvSpPr txBox="1"/>
          <p:nvPr/>
        </p:nvSpPr>
        <p:spPr>
          <a:xfrm>
            <a:off x="6536411" y="1647618"/>
            <a:ext cx="5412782" cy="390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ES" sz="2400" b="1" dirty="0"/>
              <a:t>5.2 Preparar presentación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PowerPoint con resumen de diseño y justificación técnica.</a:t>
            </a:r>
          </a:p>
          <a:p>
            <a:pPr algn="just">
              <a:lnSpc>
                <a:spcPct val="150000"/>
              </a:lnSpc>
              <a:buNone/>
            </a:pPr>
            <a:endParaRPr lang="es-ES" sz="2400" b="1" dirty="0"/>
          </a:p>
          <a:p>
            <a:pPr algn="just">
              <a:lnSpc>
                <a:spcPct val="150000"/>
              </a:lnSpc>
              <a:buNone/>
            </a:pPr>
            <a:r>
              <a:rPr lang="es-ES" sz="2400" b="1" dirty="0"/>
              <a:t>Entregables finales:</a:t>
            </a:r>
            <a:endParaRPr lang="es-ES" sz="2400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Carpeta técnica del proyecto.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Presentación oral del grupo.</a:t>
            </a:r>
          </a:p>
        </p:txBody>
      </p:sp>
    </p:spTree>
    <p:extLst>
      <p:ext uri="{BB962C8B-B14F-4D97-AF65-F5344CB8AC3E}">
        <p14:creationId xmlns:p14="http://schemas.microsoft.com/office/powerpoint/2010/main" val="1554508674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452</Words>
  <Application>Microsoft Office PowerPoint</Application>
  <PresentationFormat>Panorámica</PresentationFormat>
  <Paragraphs>66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Espiral</vt:lpstr>
      <vt:lpstr>Diseño de infraestructura de telecomunicaciones para un edificio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EMILIO RODRIGO ZHUMA MERA</dc:creator>
  <cp:lastModifiedBy>EMILIO RODRIGO ZHUMA MERA</cp:lastModifiedBy>
  <cp:revision>2</cp:revision>
  <dcterms:created xsi:type="dcterms:W3CDTF">2025-07-08T03:18:17Z</dcterms:created>
  <dcterms:modified xsi:type="dcterms:W3CDTF">2025-07-08T03:38:33Z</dcterms:modified>
</cp:coreProperties>
</file>